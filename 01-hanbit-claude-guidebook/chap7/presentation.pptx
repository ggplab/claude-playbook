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인사부터. ‘부동산 데이터 잘 아는 사람 손?’ 하고 물어보며 시작하세요. 대부분 모른다고 할 겁니다. 그럼 ‘저도 몰랐고, 그래서 오히려 제 눈높이로 만들었다’고 자연스럽게 연결합니다. 이 발표는 자랑이 아니라 ‘이런 걸 직접 만들 수 있더라’는 공유라는 걸 첫 마디에서 분명히 해두면 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공감으로 시작하세요. ‘집 알아볼 때 앱 여러 개 켜놓고도 원하는 화면이 없던 경험 있죠?’ 전세만 보고 싶은데 월세가 섞이고, 우리 부부한테 맞는 크기만 보고 싶은데 그게 안 됐다 — 이 답답함이 만든 계기였다고 말합니다. 기술 이야기는 아직 꺼내지 마세요. ‘내 기준’이라는 말 하나만 남기면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 네 개를 빠르게 훑되, 각 카드가 ‘어떤 질문에 답하는지’로 설명하세요. 필터=내가 조건을 정한다, 요약=여긴 얼마다, 추이=오르나 내리나, 랭킹=어디가 나은가. 가능하면 실제 대시보드를 옆 탭에 띄워두고 한 번 클릭해 보여주면 훨씬 와닿습니다. 숫자나 용어를 깊게 파지 말고 ‘이런 걸 볼 수 있다’ 수준으로.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여기가 이 발표의 핵심입니다. ‘개발한 게 아니라 대화했다’를 강조하세요. 말로 부탁하고 → 눈으로 보고 → 다시 부탁하고, 이 반복이 전부였다고. 마지막 문장 ‘코드를 한 줄도 읽지 않았다’에서 한 박자 쉬어 주세요. 동료들이 가장 놀라는 지점입니다. 혹시 ‘그래도 개발 좀 알아야 하지 않냐’는 질문이 나오면, ‘필요한 걸 설명할 줄만 알면 된다’고 답하면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메시지를 한 문장으로 못박는 슬라이드입니다. 천천히 읽어 주세요. 그리고 청중에게 넘기세요 — ‘여러분도 각자 필요한 도구가 있을 텐데, 그걸 남이 만들어 주길 기다릴 필요가 없어졌다’. 거창한 개발이 아니라 ‘필요한 걸 말로 부탁하는 일’이라는 점을 다시 한 번. 부담을 낮추는 게 목적입니다.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주소를 크게 띄운 채로 마무리하세요. ‘지금 각자 휴대폰으로 한번 열어 보시라’고 권하면 참여도가 올라갑니다. 예산 슬라이더랑 동네만 만져 보면 3초 안에 이해된다고 안내하세요. 질문 받고, ‘여러분이 만들고 싶은 도구 있으면 편하게 물어보라’로 닫으면 공유 취지에 잘 맞습니다.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66FF"/>
        </a:solidFill>
      </p:bgPr>
    </p:bg>
    <p:spTree>
      <p:nvGrpSpPr>
        <p:cNvPr id="1" name=""/>
        <p:cNvGrpSpPr/>
        <p:nvPr/>
      </p:nvGrpSpPr>
      <p:grpSpPr>
        <a:xfrm>
          <a:off x="0" y="0"/>
          <a:ext cx="0" cy="0"/>
          <a:chOff x="0" y="0"/>
          <a:chExt cx="0" cy="0"/>
        </a:xfrm>
      </p:grpSpPr>
      <p:sp>
        <p:nvSpPr>
          <p:cNvPr id="2" name="Shape 0"/>
          <p:cNvSpPr/>
          <p:nvPr/>
        </p:nvSpPr>
        <p:spPr>
          <a:xfrm>
            <a:off x="822960" y="1874520"/>
            <a:ext cx="1920240" cy="384048"/>
          </a:xfrm>
          <a:prstGeom prst="roundRect">
            <a:avLst>
              <a:gd name="adj" fmla="val 50000"/>
            </a:avLst>
          </a:prstGeom>
          <a:solidFill>
            <a:srgbClr val="FFFFFF">
              <a:alpha val="14000"/>
            </a:srgbClr>
          </a:solidFill>
          <a:ln w="12700">
            <a:solidFill>
              <a:srgbClr val="FFFFFF">
                <a:alpha val="40000"/>
              </a:srgbClr>
            </a:solidFill>
            <a:prstDash val="solid"/>
          </a:ln>
        </p:spPr>
      </p:sp>
      <p:sp>
        <p:nvSpPr>
          <p:cNvPr id="3" name="Text 1"/>
          <p:cNvSpPr/>
          <p:nvPr/>
        </p:nvSpPr>
        <p:spPr>
          <a:xfrm>
            <a:off x="822960" y="1874520"/>
            <a:ext cx="19202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Pretendard" pitchFamily="34" charset="0"/>
                <a:ea typeface="Pretendard" pitchFamily="34" charset="-122"/>
                <a:cs typeface="Pretendard" pitchFamily="34" charset="-120"/>
              </a:rPr>
              <a:t>사내 스터디 공유</a:t>
            </a:r>
            <a:endParaRPr lang="en-US" sz="1200" dirty="0"/>
          </a:p>
        </p:txBody>
      </p:sp>
      <p:sp>
        <p:nvSpPr>
          <p:cNvPr id="4" name="Text 2"/>
          <p:cNvSpPr/>
          <p:nvPr/>
        </p:nvSpPr>
        <p:spPr>
          <a:xfrm>
            <a:off x="822960" y="2377440"/>
            <a:ext cx="10515600" cy="1737360"/>
          </a:xfrm>
          <a:prstGeom prst="rect">
            <a:avLst/>
          </a:prstGeom>
          <a:noFill/>
          <a:ln/>
        </p:spPr>
        <p:txBody>
          <a:bodyPr wrap="square" lIns="0" tIns="0" rIns="0" bIns="0" rtlCol="0" anchor="t"/>
          <a:lstStyle/>
          <a:p>
            <a:pPr algn="l" indent="0" marL="0">
              <a:lnSpc>
                <a:spcPct val="112000"/>
              </a:lnSpc>
              <a:buNone/>
            </a:pPr>
            <a:r>
              <a:rPr lang="en-US" sz="4600" b="1" dirty="0">
                <a:solidFill>
                  <a:srgbClr val="FFFFFF"/>
                </a:solidFill>
                <a:latin typeface="Pretendard" pitchFamily="34" charset="0"/>
                <a:ea typeface="Pretendard" pitchFamily="34" charset="-122"/>
                <a:cs typeface="Pretendard" pitchFamily="34" charset="-120"/>
              </a:rPr>
              <a:t>우리 동네 실거래가,</a:t>
            </a:r>
            <a:endParaRPr lang="en-US" sz="4600" dirty="0"/>
          </a:p>
          <a:p>
            <a:pPr algn="l" indent="0" marL="0">
              <a:lnSpc>
                <a:spcPct val="112000"/>
              </a:lnSpc>
              <a:buNone/>
            </a:pPr>
            <a:r>
              <a:rPr lang="en-US" sz="4600" b="1" dirty="0">
                <a:solidFill>
                  <a:srgbClr val="FFFFFF"/>
                </a:solidFill>
                <a:latin typeface="Pretendard" pitchFamily="34" charset="0"/>
                <a:ea typeface="Pretendard" pitchFamily="34" charset="-122"/>
                <a:cs typeface="Pretendard" pitchFamily="34" charset="-120"/>
              </a:rPr>
              <a:t>내 기준으로 보기</a:t>
            </a:r>
            <a:endParaRPr lang="en-US" sz="4600" dirty="0"/>
          </a:p>
        </p:txBody>
      </p:sp>
      <p:sp>
        <p:nvSpPr>
          <p:cNvPr id="5" name="Text 3"/>
          <p:cNvSpPr/>
          <p:nvPr/>
        </p:nvSpPr>
        <p:spPr>
          <a:xfrm>
            <a:off x="822960" y="4343400"/>
            <a:ext cx="8046720" cy="914400"/>
          </a:xfrm>
          <a:prstGeom prst="rect">
            <a:avLst/>
          </a:prstGeom>
          <a:noFill/>
          <a:ln/>
        </p:spPr>
        <p:txBody>
          <a:bodyPr wrap="square" lIns="0" tIns="0" rIns="0" bIns="0" rtlCol="0" anchor="t"/>
          <a:lstStyle/>
          <a:p>
            <a:pPr algn="l" indent="0" marL="0">
              <a:lnSpc>
                <a:spcPct val="140000"/>
              </a:lnSpc>
              <a:buNone/>
            </a:pPr>
            <a:r>
              <a:rPr lang="en-US" sz="1800" dirty="0">
                <a:solidFill>
                  <a:srgbClr val="FFFFFF">
                    <a:alpha val="92000"/>
                  </a:srgbClr>
                </a:solidFill>
                <a:latin typeface="Pretendard" pitchFamily="34" charset="0"/>
                <a:ea typeface="Pretendard" pitchFamily="34" charset="-122"/>
                <a:cs typeface="Pretendard" pitchFamily="34" charset="-120"/>
              </a:rPr>
              <a:t>서울 아파트 전·월세 실거래 데이터를, 내가 보고 싶은 조건으로 들여다보는 대시보드를 직접 만들어 봤습니다.</a:t>
            </a:r>
            <a:endParaRPr lang="en-US" sz="1800" dirty="0"/>
          </a:p>
        </p:txBody>
      </p:sp>
      <p:sp>
        <p:nvSpPr>
          <p:cNvPr id="6" name="Text 4"/>
          <p:cNvSpPr/>
          <p:nvPr/>
        </p:nvSpPr>
        <p:spPr>
          <a:xfrm>
            <a:off x="822960" y="6199632"/>
            <a:ext cx="5486400" cy="274320"/>
          </a:xfrm>
          <a:prstGeom prst="rect">
            <a:avLst/>
          </a:prstGeom>
          <a:noFill/>
          <a:ln/>
        </p:spPr>
        <p:txBody>
          <a:bodyPr wrap="square" lIns="0" tIns="0" rIns="0" bIns="0" rtlCol="0" anchor="ctr"/>
          <a:lstStyle/>
          <a:p>
            <a:pPr algn="l" indent="0" marL="0">
              <a:buNone/>
            </a:pPr>
            <a:r>
              <a:rPr lang="en-US" sz="1000" dirty="0">
                <a:solidFill>
                  <a:srgbClr val="FFFFFF">
                    <a:alpha val="70000"/>
                  </a:srgbClr>
                </a:solidFill>
                <a:latin typeface="Pretendard" pitchFamily="34" charset="0"/>
                <a:ea typeface="Pretendard" pitchFamily="34" charset="-122"/>
                <a:cs typeface="Pretendard" pitchFamily="34" charset="-120"/>
              </a:rPr>
              <a:t>BuildnWrite</a:t>
            </a:r>
            <a:endParaRPr lang="en-US" sz="1000" dirty="0"/>
          </a:p>
        </p:txBody>
      </p:sp>
      <p:sp>
        <p:nvSpPr>
          <p:cNvPr id="7" name="Text 5"/>
          <p:cNvSpPr/>
          <p:nvPr/>
        </p:nvSpPr>
        <p:spPr>
          <a:xfrm>
            <a:off x="8595360" y="6199632"/>
            <a:ext cx="2743200" cy="274320"/>
          </a:xfrm>
          <a:prstGeom prst="rect">
            <a:avLst/>
          </a:prstGeom>
          <a:noFill/>
          <a:ln/>
        </p:spPr>
        <p:txBody>
          <a:bodyPr wrap="square" lIns="0" tIns="0" rIns="0" bIns="0" rtlCol="0" anchor="ctr"/>
          <a:lstStyle/>
          <a:p>
            <a:pPr algn="r" indent="0" marL="0">
              <a:buNone/>
            </a:pPr>
            <a:r>
              <a:rPr lang="en-US" sz="1000" dirty="0">
                <a:solidFill>
                  <a:srgbClr val="FFFFFF">
                    <a:alpha val="70000"/>
                  </a:srgbClr>
                </a:solidFill>
                <a:latin typeface="Pretendard" pitchFamily="34" charset="0"/>
                <a:ea typeface="Pretendard" pitchFamily="34" charset="-122"/>
                <a:cs typeface="Pretendard" pitchFamily="34" charset="-120"/>
              </a:rPr>
              <a:t>01 / 06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77240"/>
            <a:ext cx="1828800" cy="384048"/>
          </a:xfrm>
          <a:prstGeom prst="roundRect">
            <a:avLst>
              <a:gd name="adj" fmla="val 50000"/>
            </a:avLst>
          </a:prstGeom>
          <a:solidFill>
            <a:srgbClr val="F7F7F8"/>
          </a:solidFill>
          <a:ln w="12700">
            <a:solidFill>
              <a:srgbClr val="E1E2E4"/>
            </a:solidFill>
            <a:prstDash val="solid"/>
          </a:ln>
        </p:spPr>
      </p:sp>
      <p:sp>
        <p:nvSpPr>
          <p:cNvPr id="3" name="Text 1"/>
          <p:cNvSpPr/>
          <p:nvPr/>
        </p:nvSpPr>
        <p:spPr>
          <a:xfrm>
            <a:off x="822960" y="777240"/>
            <a:ext cx="1828800" cy="384048"/>
          </a:xfrm>
          <a:prstGeom prst="rect">
            <a:avLst/>
          </a:prstGeom>
          <a:noFill/>
          <a:ln/>
        </p:spPr>
        <p:txBody>
          <a:bodyPr wrap="square" lIns="0" tIns="0" rIns="0" bIns="0" rtlCol="0" anchor="ctr"/>
          <a:lstStyle/>
          <a:p>
            <a:pPr algn="ctr" indent="0" marL="0">
              <a:buNone/>
            </a:pPr>
            <a:r>
              <a:rPr lang="en-US" sz="1200" b="1" dirty="0">
                <a:solidFill>
                  <a:srgbClr val="0066FF"/>
                </a:solidFill>
                <a:latin typeface="Pretendard" pitchFamily="34" charset="0"/>
                <a:ea typeface="Pretendard" pitchFamily="34" charset="-122"/>
                <a:cs typeface="Pretendard" pitchFamily="34" charset="-120"/>
              </a:rPr>
              <a:t>왜 직접 만들었나</a:t>
            </a:r>
            <a:endParaRPr lang="en-US" sz="1200" dirty="0"/>
          </a:p>
        </p:txBody>
      </p:sp>
      <p:sp>
        <p:nvSpPr>
          <p:cNvPr id="4" name="Text 2"/>
          <p:cNvSpPr/>
          <p:nvPr/>
        </p:nvSpPr>
        <p:spPr>
          <a:xfrm>
            <a:off x="822960" y="1325880"/>
            <a:ext cx="10058400" cy="1463040"/>
          </a:xfrm>
          <a:prstGeom prst="rect">
            <a:avLst/>
          </a:prstGeom>
          <a:noFill/>
          <a:ln/>
        </p:spPr>
        <p:txBody>
          <a:bodyPr wrap="square" lIns="0" tIns="0" rIns="0" bIns="0" rtlCol="0" anchor="t"/>
          <a:lstStyle/>
          <a:p>
            <a:pPr algn="l" indent="0" marL="0">
              <a:lnSpc>
                <a:spcPct val="118000"/>
              </a:lnSpc>
              <a:buNone/>
            </a:pPr>
            <a:r>
              <a:rPr lang="en-US" sz="3400" b="1" dirty="0">
                <a:solidFill>
                  <a:srgbClr val="000000"/>
                </a:solidFill>
                <a:latin typeface="Pretendard" pitchFamily="34" charset="0"/>
                <a:ea typeface="Pretendard" pitchFamily="34" charset="-122"/>
                <a:cs typeface="Pretendard" pitchFamily="34" charset="-120"/>
              </a:rPr>
              <a:t>부동산 앱은 많은데,</a:t>
            </a:r>
            <a:endParaRPr lang="en-US" sz="3400" dirty="0"/>
          </a:p>
          <a:p>
            <a:pPr algn="l" indent="0" marL="0">
              <a:lnSpc>
                <a:spcPct val="118000"/>
              </a:lnSpc>
              <a:buNone/>
            </a:pPr>
            <a:r>
              <a:rPr lang="en-US" sz="3400" b="1" dirty="0">
                <a:solidFill>
                  <a:srgbClr val="000000"/>
                </a:solidFill>
                <a:latin typeface="Pretendard" pitchFamily="34" charset="0"/>
                <a:ea typeface="Pretendard" pitchFamily="34" charset="-122"/>
                <a:cs typeface="Pretendard" pitchFamily="34" charset="-120"/>
              </a:rPr>
              <a:t>‘내 기준’이 없었어요</a:t>
            </a:r>
            <a:endParaRPr lang="en-US" sz="3400" dirty="0"/>
          </a:p>
        </p:txBody>
      </p:sp>
      <p:sp>
        <p:nvSpPr>
          <p:cNvPr id="5" name="Text 3"/>
          <p:cNvSpPr/>
          <p:nvPr/>
        </p:nvSpPr>
        <p:spPr>
          <a:xfrm>
            <a:off x="822960" y="3246120"/>
            <a:ext cx="1828800" cy="365760"/>
          </a:xfrm>
          <a:prstGeom prst="rect">
            <a:avLst/>
          </a:prstGeom>
          <a:noFill/>
          <a:ln/>
        </p:spPr>
        <p:txBody>
          <a:bodyPr wrap="square" lIns="0" tIns="0" rIns="0" bIns="0" rtlCol="0" anchor="t"/>
          <a:lstStyle/>
          <a:p>
            <a:pPr indent="0" marL="0">
              <a:buNone/>
            </a:pPr>
            <a:r>
              <a:rPr lang="en-US" sz="1300" b="1" dirty="0">
                <a:solidFill>
                  <a:srgbClr val="878A93"/>
                </a:solidFill>
                <a:latin typeface="Pretendard" pitchFamily="34" charset="0"/>
                <a:ea typeface="Pretendard" pitchFamily="34" charset="-122"/>
                <a:cs typeface="Pretendard" pitchFamily="34" charset="-120"/>
              </a:rPr>
              <a:t>기존 앱은</a:t>
            </a:r>
            <a:endParaRPr lang="en-US" sz="1300" dirty="0"/>
          </a:p>
        </p:txBody>
      </p:sp>
      <p:sp>
        <p:nvSpPr>
          <p:cNvPr id="6" name="Text 4"/>
          <p:cNvSpPr/>
          <p:nvPr/>
        </p:nvSpPr>
        <p:spPr>
          <a:xfrm>
            <a:off x="2926080" y="3200400"/>
            <a:ext cx="7772400" cy="914400"/>
          </a:xfrm>
          <a:prstGeom prst="rect">
            <a:avLst/>
          </a:prstGeom>
          <a:noFill/>
          <a:ln/>
        </p:spPr>
        <p:txBody>
          <a:bodyPr wrap="square" lIns="0" tIns="0" rIns="0" bIns="0" rtlCol="0" anchor="t"/>
          <a:lstStyle/>
          <a:p>
            <a:pPr indent="0" marL="0">
              <a:lnSpc>
                <a:spcPct val="140000"/>
              </a:lnSpc>
              <a:buNone/>
            </a:pPr>
            <a:r>
              <a:rPr lang="en-US" sz="1900" dirty="0">
                <a:solidFill>
                  <a:srgbClr val="3A3B40"/>
                </a:solidFill>
                <a:latin typeface="Pretendard" pitchFamily="34" charset="0"/>
                <a:ea typeface="Pretendard" pitchFamily="34" charset="-122"/>
                <a:cs typeface="Pretendard" pitchFamily="34" charset="-120"/>
              </a:rPr>
              <a:t>정해진 화면과 정해진 조건만 보여줍니다. 평형 구분도, 전세만 보기도 마음대로 안 됩니다.</a:t>
            </a:r>
            <a:endParaRPr lang="en-US" sz="1900" dirty="0"/>
          </a:p>
        </p:txBody>
      </p:sp>
      <p:sp>
        <p:nvSpPr>
          <p:cNvPr id="7" name="Text 5"/>
          <p:cNvSpPr/>
          <p:nvPr/>
        </p:nvSpPr>
        <p:spPr>
          <a:xfrm>
            <a:off x="822960" y="4572000"/>
            <a:ext cx="1828800" cy="365760"/>
          </a:xfrm>
          <a:prstGeom prst="rect">
            <a:avLst/>
          </a:prstGeom>
          <a:noFill/>
          <a:ln/>
        </p:spPr>
        <p:txBody>
          <a:bodyPr wrap="square" lIns="0" tIns="0" rIns="0" bIns="0" rtlCol="0" anchor="t"/>
          <a:lstStyle/>
          <a:p>
            <a:pPr indent="0" marL="0">
              <a:buNone/>
            </a:pPr>
            <a:r>
              <a:rPr lang="en-US" sz="1300" b="1" dirty="0">
                <a:solidFill>
                  <a:srgbClr val="878A93"/>
                </a:solidFill>
                <a:latin typeface="Pretendard" pitchFamily="34" charset="0"/>
                <a:ea typeface="Pretendard" pitchFamily="34" charset="-122"/>
                <a:cs typeface="Pretendard" pitchFamily="34" charset="-120"/>
              </a:rPr>
              <a:t>내가 원한 건</a:t>
            </a:r>
            <a:endParaRPr lang="en-US" sz="1300" dirty="0"/>
          </a:p>
        </p:txBody>
      </p:sp>
      <p:sp>
        <p:nvSpPr>
          <p:cNvPr id="8" name="Text 6"/>
          <p:cNvSpPr/>
          <p:nvPr/>
        </p:nvSpPr>
        <p:spPr>
          <a:xfrm>
            <a:off x="2926080" y="4526280"/>
            <a:ext cx="7955280" cy="1097280"/>
          </a:xfrm>
          <a:prstGeom prst="rect">
            <a:avLst/>
          </a:prstGeom>
          <a:noFill/>
          <a:ln/>
        </p:spPr>
        <p:txBody>
          <a:bodyPr wrap="square" lIns="0" tIns="0" rIns="0" bIns="0" rtlCol="0" anchor="t"/>
          <a:lstStyle/>
          <a:p>
            <a:pPr indent="0" marL="0">
              <a:lnSpc>
                <a:spcPct val="140000"/>
              </a:lnSpc>
              <a:buNone/>
            </a:pPr>
            <a:r>
              <a:rPr lang="en-US" sz="1900" b="1" dirty="0">
                <a:solidFill>
                  <a:srgbClr val="0054D1"/>
                </a:solidFill>
                <a:latin typeface="Pretendard" pitchFamily="34" charset="0"/>
                <a:ea typeface="Pretendard" pitchFamily="34" charset="-122"/>
                <a:cs typeface="Pretendard" pitchFamily="34" charset="-120"/>
              </a:rPr>
              <a:t>전세만</a:t>
            </a:r>
            <a:pPr indent="0" marL="0">
              <a:lnSpc>
                <a:spcPct val="140000"/>
              </a:lnSpc>
              <a:buNone/>
            </a:pPr>
            <a:r>
              <a:rPr lang="en-US" sz="1900" dirty="0">
                <a:solidFill>
                  <a:srgbClr val="171719"/>
                </a:solidFill>
                <a:latin typeface="Pretendard" pitchFamily="34" charset="0"/>
                <a:ea typeface="Pretendard" pitchFamily="34" charset="-122"/>
                <a:cs typeface="Pretendard" pitchFamily="34" charset="-120"/>
              </a:rPr>
              <a:t>, </a:t>
            </a:r>
            <a:pPr indent="0" marL="0">
              <a:lnSpc>
                <a:spcPct val="140000"/>
              </a:lnSpc>
              <a:buNone/>
            </a:pPr>
            <a:r>
              <a:rPr lang="en-US" sz="1900" b="1" dirty="0">
                <a:solidFill>
                  <a:srgbClr val="0054D1"/>
                </a:solidFill>
                <a:latin typeface="Pretendard" pitchFamily="34" charset="0"/>
                <a:ea typeface="Pretendard" pitchFamily="34" charset="-122"/>
                <a:cs typeface="Pretendard" pitchFamily="34" charset="-120"/>
              </a:rPr>
              <a:t>신혼부부가 살 만한 크기</a:t>
            </a:r>
            <a:pPr indent="0" marL="0">
              <a:lnSpc>
                <a:spcPct val="140000"/>
              </a:lnSpc>
              <a:buNone/>
            </a:pPr>
            <a:r>
              <a:rPr lang="en-US" sz="1900" dirty="0">
                <a:solidFill>
                  <a:srgbClr val="171719"/>
                </a:solidFill>
                <a:latin typeface="Pretendard" pitchFamily="34" charset="0"/>
                <a:ea typeface="Pretendard" pitchFamily="34" charset="-122"/>
                <a:cs typeface="Pretendard" pitchFamily="34" charset="-120"/>
              </a:rPr>
              <a:t>, </a:t>
            </a:r>
            <a:pPr indent="0" marL="0">
              <a:lnSpc>
                <a:spcPct val="140000"/>
              </a:lnSpc>
              <a:buNone/>
            </a:pPr>
            <a:r>
              <a:rPr lang="en-US" sz="1900" b="1" dirty="0">
                <a:solidFill>
                  <a:srgbClr val="0054D1"/>
                </a:solidFill>
                <a:latin typeface="Pretendard" pitchFamily="34" charset="0"/>
                <a:ea typeface="Pretendard" pitchFamily="34" charset="-122"/>
                <a:cs typeface="Pretendard" pitchFamily="34" charset="-120"/>
              </a:rPr>
              <a:t>내 예산 안</a:t>
            </a:r>
            <a:pPr indent="0" marL="0">
              <a:lnSpc>
                <a:spcPct val="140000"/>
              </a:lnSpc>
              <a:buNone/>
            </a:pPr>
            <a:r>
              <a:rPr lang="en-US" sz="1900" dirty="0">
                <a:solidFill>
                  <a:srgbClr val="171719"/>
                </a:solidFill>
                <a:latin typeface="Pretendard" pitchFamily="34" charset="0"/>
                <a:ea typeface="Pretendard" pitchFamily="34" charset="-122"/>
                <a:cs typeface="Pretendard" pitchFamily="34" charset="-120"/>
              </a:rPr>
              <a:t> — 이 세 조건으로 동네를 비교하는 것뿐이었어요.</a:t>
            </a:r>
            <a:endParaRPr lang="en-US" sz="1900" dirty="0"/>
          </a:p>
        </p:txBody>
      </p:sp>
      <p:sp>
        <p:nvSpPr>
          <p:cNvPr id="9" name="Text 7"/>
          <p:cNvSpPr/>
          <p:nvPr/>
        </p:nvSpPr>
        <p:spPr>
          <a:xfrm>
            <a:off x="822960" y="6199632"/>
            <a:ext cx="5486400" cy="274320"/>
          </a:xfrm>
          <a:prstGeom prst="rect">
            <a:avLst/>
          </a:prstGeom>
          <a:noFill/>
          <a:ln/>
        </p:spPr>
        <p:txBody>
          <a:bodyPr wrap="square" lIns="0" tIns="0" rIns="0" bIns="0" rtlCol="0" anchor="ctr"/>
          <a:lstStyle/>
          <a:p>
            <a:pPr algn="l" indent="0" marL="0">
              <a:buNone/>
            </a:pPr>
            <a:r>
              <a:rPr lang="en-US" sz="1000" dirty="0">
                <a:solidFill>
                  <a:srgbClr val="878A93"/>
                </a:solidFill>
                <a:latin typeface="Pretendard" pitchFamily="34" charset="0"/>
                <a:ea typeface="Pretendard" pitchFamily="34" charset="-122"/>
                <a:cs typeface="Pretendard" pitchFamily="34" charset="-120"/>
              </a:rPr>
              <a:t>BuildnWrite</a:t>
            </a:r>
            <a:endParaRPr lang="en-US" sz="1000" dirty="0"/>
          </a:p>
        </p:txBody>
      </p:sp>
      <p:sp>
        <p:nvSpPr>
          <p:cNvPr id="10" name="Text 8"/>
          <p:cNvSpPr/>
          <p:nvPr/>
        </p:nvSpPr>
        <p:spPr>
          <a:xfrm>
            <a:off x="8595360" y="6199632"/>
            <a:ext cx="2743200" cy="274320"/>
          </a:xfrm>
          <a:prstGeom prst="rect">
            <a:avLst/>
          </a:prstGeom>
          <a:noFill/>
          <a:ln/>
        </p:spPr>
        <p:txBody>
          <a:bodyPr wrap="square" lIns="0" tIns="0" rIns="0" bIns="0" rtlCol="0" anchor="ctr"/>
          <a:lstStyle/>
          <a:p>
            <a:pPr algn="r" indent="0" marL="0">
              <a:buNone/>
            </a:pPr>
            <a:r>
              <a:rPr lang="en-US" sz="1000" dirty="0">
                <a:solidFill>
                  <a:srgbClr val="878A93"/>
                </a:solidFill>
                <a:latin typeface="Pretendard" pitchFamily="34" charset="0"/>
                <a:ea typeface="Pretendard" pitchFamily="34" charset="-122"/>
                <a:cs typeface="Pretendard" pitchFamily="34" charset="-120"/>
              </a:rPr>
              <a:t>02 / 06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77240"/>
            <a:ext cx="1737360" cy="384048"/>
          </a:xfrm>
          <a:prstGeom prst="roundRect">
            <a:avLst>
              <a:gd name="adj" fmla="val 50000"/>
            </a:avLst>
          </a:prstGeom>
          <a:solidFill>
            <a:srgbClr val="F7F7F8"/>
          </a:solidFill>
          <a:ln w="12700">
            <a:solidFill>
              <a:srgbClr val="E1E2E4"/>
            </a:solidFill>
            <a:prstDash val="solid"/>
          </a:ln>
        </p:spPr>
      </p:sp>
      <p:sp>
        <p:nvSpPr>
          <p:cNvPr id="3" name="Text 1"/>
          <p:cNvSpPr/>
          <p:nvPr/>
        </p:nvSpPr>
        <p:spPr>
          <a:xfrm>
            <a:off x="822960" y="777240"/>
            <a:ext cx="1737360" cy="384048"/>
          </a:xfrm>
          <a:prstGeom prst="rect">
            <a:avLst/>
          </a:prstGeom>
          <a:noFill/>
          <a:ln/>
        </p:spPr>
        <p:txBody>
          <a:bodyPr wrap="square" lIns="0" tIns="0" rIns="0" bIns="0" rtlCol="0" anchor="ctr"/>
          <a:lstStyle/>
          <a:p>
            <a:pPr algn="ctr" indent="0" marL="0">
              <a:buNone/>
            </a:pPr>
            <a:r>
              <a:rPr lang="en-US" sz="1200" b="1" dirty="0">
                <a:solidFill>
                  <a:srgbClr val="0066FF"/>
                </a:solidFill>
                <a:latin typeface="Pretendard" pitchFamily="34" charset="0"/>
                <a:ea typeface="Pretendard" pitchFamily="34" charset="-122"/>
                <a:cs typeface="Pretendard" pitchFamily="34" charset="-120"/>
              </a:rPr>
              <a:t>어떤 화면인가</a:t>
            </a:r>
            <a:endParaRPr lang="en-US" sz="1200" dirty="0"/>
          </a:p>
        </p:txBody>
      </p:sp>
      <p:sp>
        <p:nvSpPr>
          <p:cNvPr id="4" name="Text 2"/>
          <p:cNvSpPr/>
          <p:nvPr/>
        </p:nvSpPr>
        <p:spPr>
          <a:xfrm>
            <a:off x="822960" y="1325880"/>
            <a:ext cx="10515600" cy="822960"/>
          </a:xfrm>
          <a:prstGeom prst="rect">
            <a:avLst/>
          </a:prstGeom>
          <a:noFill/>
          <a:ln/>
        </p:spPr>
        <p:txBody>
          <a:bodyPr wrap="square" lIns="0" tIns="0" rIns="0" bIns="0" rtlCol="0" anchor="t"/>
          <a:lstStyle/>
          <a:p>
            <a:pPr indent="0" marL="0">
              <a:buNone/>
            </a:pPr>
            <a:r>
              <a:rPr lang="en-US" sz="3400" b="1" dirty="0">
                <a:solidFill>
                  <a:srgbClr val="000000"/>
                </a:solidFill>
                <a:latin typeface="Pretendard" pitchFamily="34" charset="0"/>
                <a:ea typeface="Pretendard" pitchFamily="34" charset="-122"/>
                <a:cs typeface="Pretendard" pitchFamily="34" charset="-120"/>
              </a:rPr>
              <a:t>네 가지 화면으로 답을 찾습니다</a:t>
            </a:r>
            <a:endParaRPr lang="en-US" sz="3400" dirty="0"/>
          </a:p>
        </p:txBody>
      </p:sp>
      <p:sp>
        <p:nvSpPr>
          <p:cNvPr id="5" name="Shape 3"/>
          <p:cNvSpPr/>
          <p:nvPr/>
        </p:nvSpPr>
        <p:spPr>
          <a:xfrm>
            <a:off x="822960" y="2331720"/>
            <a:ext cx="5074920" cy="1664208"/>
          </a:xfrm>
          <a:prstGeom prst="roundRect">
            <a:avLst>
              <a:gd name="adj" fmla="val 7692"/>
            </a:avLst>
          </a:prstGeom>
          <a:solidFill>
            <a:srgbClr val="F7F7F8"/>
          </a:solidFill>
          <a:ln w="12700">
            <a:solidFill>
              <a:srgbClr val="E1E2E4"/>
            </a:solidFill>
            <a:prstDash val="solid"/>
          </a:ln>
        </p:spPr>
      </p:sp>
      <p:sp>
        <p:nvSpPr>
          <p:cNvPr id="6" name="Shape 4"/>
          <p:cNvSpPr/>
          <p:nvPr/>
        </p:nvSpPr>
        <p:spPr>
          <a:xfrm>
            <a:off x="1188720" y="2606040"/>
            <a:ext cx="384048" cy="384048"/>
          </a:xfrm>
          <a:prstGeom prst="roundRect">
            <a:avLst>
              <a:gd name="adj" fmla="val 21429"/>
            </a:avLst>
          </a:prstGeom>
          <a:solidFill>
            <a:srgbClr val="0066FF"/>
          </a:solidFill>
          <a:ln/>
        </p:spPr>
      </p:sp>
      <p:sp>
        <p:nvSpPr>
          <p:cNvPr id="7" name="Text 5"/>
          <p:cNvSpPr/>
          <p:nvPr/>
        </p:nvSpPr>
        <p:spPr>
          <a:xfrm>
            <a:off x="1188720" y="26060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1</a:t>
            </a:r>
            <a:endParaRPr lang="en-US" sz="1500" dirty="0"/>
          </a:p>
        </p:txBody>
      </p:sp>
      <p:sp>
        <p:nvSpPr>
          <p:cNvPr id="8" name="Text 6"/>
          <p:cNvSpPr/>
          <p:nvPr/>
        </p:nvSpPr>
        <p:spPr>
          <a:xfrm>
            <a:off x="1188720" y="3081528"/>
            <a:ext cx="4343400" cy="365760"/>
          </a:xfrm>
          <a:prstGeom prst="rect">
            <a:avLst/>
          </a:prstGeom>
          <a:noFill/>
          <a:ln/>
        </p:spPr>
        <p:txBody>
          <a:bodyPr wrap="square" lIns="0" tIns="0" rIns="0" bIns="0" rtlCol="0" anchor="t"/>
          <a:lstStyle/>
          <a:p>
            <a:pPr indent="0" marL="0">
              <a:buNone/>
            </a:pPr>
            <a:r>
              <a:rPr lang="en-US" sz="1700" b="1" dirty="0">
                <a:solidFill>
                  <a:srgbClr val="000000"/>
                </a:solidFill>
                <a:latin typeface="Pretendard" pitchFamily="34" charset="0"/>
                <a:ea typeface="Pretendard" pitchFamily="34" charset="-122"/>
                <a:cs typeface="Pretendard" pitchFamily="34" charset="-120"/>
              </a:rPr>
              <a:t>필터 — 내가 조건을 정함</a:t>
            </a:r>
            <a:endParaRPr lang="en-US" sz="1700" dirty="0"/>
          </a:p>
        </p:txBody>
      </p:sp>
      <p:sp>
        <p:nvSpPr>
          <p:cNvPr id="9" name="Text 7"/>
          <p:cNvSpPr/>
          <p:nvPr/>
        </p:nvSpPr>
        <p:spPr>
          <a:xfrm>
            <a:off x="1188720" y="3429000"/>
            <a:ext cx="4434840" cy="457200"/>
          </a:xfrm>
          <a:prstGeom prst="rect">
            <a:avLst/>
          </a:prstGeom>
          <a:noFill/>
          <a:ln/>
        </p:spPr>
        <p:txBody>
          <a:bodyPr wrap="square" lIns="0" tIns="0" rIns="0" bIns="0" rtlCol="0" anchor="t"/>
          <a:lstStyle/>
          <a:p>
            <a:pPr indent="0" marL="0">
              <a:lnSpc>
                <a:spcPct val="130000"/>
              </a:lnSpc>
              <a:buNone/>
            </a:pPr>
            <a:r>
              <a:rPr lang="en-US" sz="1300" dirty="0">
                <a:solidFill>
                  <a:srgbClr val="3A3B40"/>
                </a:solidFill>
                <a:latin typeface="Pretendard" pitchFamily="34" charset="0"/>
                <a:ea typeface="Pretendard" pitchFamily="34" charset="-122"/>
                <a:cs typeface="Pretendard" pitchFamily="34" charset="-120"/>
              </a:rPr>
              <a:t>예산·집 크기·전세/월세를 직접 골라요. 내 상황에 맞춰 화면이 바뀝니다.</a:t>
            </a:r>
            <a:endParaRPr lang="en-US" sz="1300" dirty="0"/>
          </a:p>
        </p:txBody>
      </p:sp>
      <p:sp>
        <p:nvSpPr>
          <p:cNvPr id="10" name="Shape 8"/>
          <p:cNvSpPr/>
          <p:nvPr/>
        </p:nvSpPr>
        <p:spPr>
          <a:xfrm>
            <a:off x="6355080" y="2331720"/>
            <a:ext cx="5074920" cy="1664208"/>
          </a:xfrm>
          <a:prstGeom prst="roundRect">
            <a:avLst>
              <a:gd name="adj" fmla="val 7692"/>
            </a:avLst>
          </a:prstGeom>
          <a:solidFill>
            <a:srgbClr val="F7F7F8"/>
          </a:solidFill>
          <a:ln w="12700">
            <a:solidFill>
              <a:srgbClr val="E1E2E4"/>
            </a:solidFill>
            <a:prstDash val="solid"/>
          </a:ln>
        </p:spPr>
      </p:sp>
      <p:sp>
        <p:nvSpPr>
          <p:cNvPr id="11" name="Shape 9"/>
          <p:cNvSpPr/>
          <p:nvPr/>
        </p:nvSpPr>
        <p:spPr>
          <a:xfrm>
            <a:off x="6720840" y="2606040"/>
            <a:ext cx="384048" cy="384048"/>
          </a:xfrm>
          <a:prstGeom prst="roundRect">
            <a:avLst>
              <a:gd name="adj" fmla="val 21429"/>
            </a:avLst>
          </a:prstGeom>
          <a:solidFill>
            <a:srgbClr val="0066FF"/>
          </a:solidFill>
          <a:ln/>
        </p:spPr>
      </p:sp>
      <p:sp>
        <p:nvSpPr>
          <p:cNvPr id="12" name="Text 10"/>
          <p:cNvSpPr/>
          <p:nvPr/>
        </p:nvSpPr>
        <p:spPr>
          <a:xfrm>
            <a:off x="6720840" y="26060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2</a:t>
            </a:r>
            <a:endParaRPr lang="en-US" sz="1500" dirty="0"/>
          </a:p>
        </p:txBody>
      </p:sp>
      <p:sp>
        <p:nvSpPr>
          <p:cNvPr id="13" name="Text 11"/>
          <p:cNvSpPr/>
          <p:nvPr/>
        </p:nvSpPr>
        <p:spPr>
          <a:xfrm>
            <a:off x="6720840" y="3081528"/>
            <a:ext cx="4343400" cy="365760"/>
          </a:xfrm>
          <a:prstGeom prst="rect">
            <a:avLst/>
          </a:prstGeom>
          <a:noFill/>
          <a:ln/>
        </p:spPr>
        <p:txBody>
          <a:bodyPr wrap="square" lIns="0" tIns="0" rIns="0" bIns="0" rtlCol="0" anchor="t"/>
          <a:lstStyle/>
          <a:p>
            <a:pPr indent="0" marL="0">
              <a:buNone/>
            </a:pPr>
            <a:r>
              <a:rPr lang="en-US" sz="1700" b="1" dirty="0">
                <a:solidFill>
                  <a:srgbClr val="000000"/>
                </a:solidFill>
                <a:latin typeface="Pretendard" pitchFamily="34" charset="0"/>
                <a:ea typeface="Pretendard" pitchFamily="34" charset="-122"/>
                <a:cs typeface="Pretendard" pitchFamily="34" charset="-120"/>
              </a:rPr>
              <a:t>요약 숫자 — 대표 시세</a:t>
            </a:r>
            <a:endParaRPr lang="en-US" sz="1700" dirty="0"/>
          </a:p>
        </p:txBody>
      </p:sp>
      <p:sp>
        <p:nvSpPr>
          <p:cNvPr id="14" name="Text 12"/>
          <p:cNvSpPr/>
          <p:nvPr/>
        </p:nvSpPr>
        <p:spPr>
          <a:xfrm>
            <a:off x="6720840" y="3429000"/>
            <a:ext cx="4434840" cy="457200"/>
          </a:xfrm>
          <a:prstGeom prst="rect">
            <a:avLst/>
          </a:prstGeom>
          <a:noFill/>
          <a:ln/>
        </p:spPr>
        <p:txBody>
          <a:bodyPr wrap="square" lIns="0" tIns="0" rIns="0" bIns="0" rtlCol="0" anchor="t"/>
          <a:lstStyle/>
          <a:p>
            <a:pPr indent="0" marL="0">
              <a:lnSpc>
                <a:spcPct val="130000"/>
              </a:lnSpc>
              <a:buNone/>
            </a:pPr>
            <a:r>
              <a:rPr lang="en-US" sz="1300" dirty="0">
                <a:solidFill>
                  <a:srgbClr val="3A3B40"/>
                </a:solidFill>
                <a:latin typeface="Pretendard" pitchFamily="34" charset="0"/>
                <a:ea typeface="Pretendard" pitchFamily="34" charset="-122"/>
                <a:cs typeface="Pretendard" pitchFamily="34" charset="-120"/>
              </a:rPr>
              <a:t>고른 조건의 대표 가격을 한눈에. “여긴 대충 얼마”가 바로 보여요.</a:t>
            </a:r>
            <a:endParaRPr lang="en-US" sz="1300" dirty="0"/>
          </a:p>
        </p:txBody>
      </p:sp>
      <p:sp>
        <p:nvSpPr>
          <p:cNvPr id="15" name="Shape 13"/>
          <p:cNvSpPr/>
          <p:nvPr/>
        </p:nvSpPr>
        <p:spPr>
          <a:xfrm>
            <a:off x="822960" y="4251960"/>
            <a:ext cx="5074920" cy="1664208"/>
          </a:xfrm>
          <a:prstGeom prst="roundRect">
            <a:avLst>
              <a:gd name="adj" fmla="val 7692"/>
            </a:avLst>
          </a:prstGeom>
          <a:solidFill>
            <a:srgbClr val="F7F7F8"/>
          </a:solidFill>
          <a:ln w="12700">
            <a:solidFill>
              <a:srgbClr val="E1E2E4"/>
            </a:solidFill>
            <a:prstDash val="solid"/>
          </a:ln>
        </p:spPr>
      </p:sp>
      <p:sp>
        <p:nvSpPr>
          <p:cNvPr id="16" name="Shape 14"/>
          <p:cNvSpPr/>
          <p:nvPr/>
        </p:nvSpPr>
        <p:spPr>
          <a:xfrm>
            <a:off x="1188720" y="4526280"/>
            <a:ext cx="384048" cy="384048"/>
          </a:xfrm>
          <a:prstGeom prst="roundRect">
            <a:avLst>
              <a:gd name="adj" fmla="val 21429"/>
            </a:avLst>
          </a:prstGeom>
          <a:solidFill>
            <a:srgbClr val="0066FF"/>
          </a:solidFill>
          <a:ln/>
        </p:spPr>
      </p:sp>
      <p:sp>
        <p:nvSpPr>
          <p:cNvPr id="17" name="Text 15"/>
          <p:cNvSpPr/>
          <p:nvPr/>
        </p:nvSpPr>
        <p:spPr>
          <a:xfrm>
            <a:off x="1188720" y="45262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3</a:t>
            </a:r>
            <a:endParaRPr lang="en-US" sz="1500" dirty="0"/>
          </a:p>
        </p:txBody>
      </p:sp>
      <p:sp>
        <p:nvSpPr>
          <p:cNvPr id="18" name="Text 16"/>
          <p:cNvSpPr/>
          <p:nvPr/>
        </p:nvSpPr>
        <p:spPr>
          <a:xfrm>
            <a:off x="1188720" y="5001768"/>
            <a:ext cx="4343400" cy="365760"/>
          </a:xfrm>
          <a:prstGeom prst="rect">
            <a:avLst/>
          </a:prstGeom>
          <a:noFill/>
          <a:ln/>
        </p:spPr>
        <p:txBody>
          <a:bodyPr wrap="square" lIns="0" tIns="0" rIns="0" bIns="0" rtlCol="0" anchor="t"/>
          <a:lstStyle/>
          <a:p>
            <a:pPr indent="0" marL="0">
              <a:buNone/>
            </a:pPr>
            <a:r>
              <a:rPr lang="en-US" sz="1700" b="1" dirty="0">
                <a:solidFill>
                  <a:srgbClr val="000000"/>
                </a:solidFill>
                <a:latin typeface="Pretendard" pitchFamily="34" charset="0"/>
                <a:ea typeface="Pretendard" pitchFamily="34" charset="-122"/>
                <a:cs typeface="Pretendard" pitchFamily="34" charset="-120"/>
              </a:rPr>
              <a:t>월별 추이 — 오르나 내리나</a:t>
            </a:r>
            <a:endParaRPr lang="en-US" sz="1700" dirty="0"/>
          </a:p>
        </p:txBody>
      </p:sp>
      <p:sp>
        <p:nvSpPr>
          <p:cNvPr id="19" name="Text 17"/>
          <p:cNvSpPr/>
          <p:nvPr/>
        </p:nvSpPr>
        <p:spPr>
          <a:xfrm>
            <a:off x="1188720" y="5349240"/>
            <a:ext cx="4434840" cy="457200"/>
          </a:xfrm>
          <a:prstGeom prst="rect">
            <a:avLst/>
          </a:prstGeom>
          <a:noFill/>
          <a:ln/>
        </p:spPr>
        <p:txBody>
          <a:bodyPr wrap="square" lIns="0" tIns="0" rIns="0" bIns="0" rtlCol="0" anchor="t"/>
          <a:lstStyle/>
          <a:p>
            <a:pPr indent="0" marL="0">
              <a:lnSpc>
                <a:spcPct val="130000"/>
              </a:lnSpc>
              <a:buNone/>
            </a:pPr>
            <a:r>
              <a:rPr lang="en-US" sz="1300" dirty="0">
                <a:solidFill>
                  <a:srgbClr val="3A3B40"/>
                </a:solidFill>
                <a:latin typeface="Pretendard" pitchFamily="34" charset="0"/>
                <a:ea typeface="Pretendard" pitchFamily="34" charset="-122"/>
                <a:cs typeface="Pretendard" pitchFamily="34" charset="-120"/>
              </a:rPr>
              <a:t>지난 1년 흐름을 그래프로. 오르는 동네인지 내리는 동네인지 알 수 있어요.</a:t>
            </a:r>
            <a:endParaRPr lang="en-US" sz="1300" dirty="0"/>
          </a:p>
        </p:txBody>
      </p:sp>
      <p:sp>
        <p:nvSpPr>
          <p:cNvPr id="20" name="Shape 18"/>
          <p:cNvSpPr/>
          <p:nvPr/>
        </p:nvSpPr>
        <p:spPr>
          <a:xfrm>
            <a:off x="6355080" y="4251960"/>
            <a:ext cx="5074920" cy="1664208"/>
          </a:xfrm>
          <a:prstGeom prst="roundRect">
            <a:avLst>
              <a:gd name="adj" fmla="val 7692"/>
            </a:avLst>
          </a:prstGeom>
          <a:solidFill>
            <a:srgbClr val="F7F7F8"/>
          </a:solidFill>
          <a:ln w="12700">
            <a:solidFill>
              <a:srgbClr val="E1E2E4"/>
            </a:solidFill>
            <a:prstDash val="solid"/>
          </a:ln>
        </p:spPr>
      </p:sp>
      <p:sp>
        <p:nvSpPr>
          <p:cNvPr id="21" name="Shape 19"/>
          <p:cNvSpPr/>
          <p:nvPr/>
        </p:nvSpPr>
        <p:spPr>
          <a:xfrm>
            <a:off x="6720840" y="4526280"/>
            <a:ext cx="384048" cy="384048"/>
          </a:xfrm>
          <a:prstGeom prst="roundRect">
            <a:avLst>
              <a:gd name="adj" fmla="val 21429"/>
            </a:avLst>
          </a:prstGeom>
          <a:solidFill>
            <a:srgbClr val="0066FF"/>
          </a:solidFill>
          <a:ln/>
        </p:spPr>
      </p:sp>
      <p:sp>
        <p:nvSpPr>
          <p:cNvPr id="22" name="Text 20"/>
          <p:cNvSpPr/>
          <p:nvPr/>
        </p:nvSpPr>
        <p:spPr>
          <a:xfrm>
            <a:off x="6720840" y="45262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4</a:t>
            </a:r>
            <a:endParaRPr lang="en-US" sz="1500" dirty="0"/>
          </a:p>
        </p:txBody>
      </p:sp>
      <p:sp>
        <p:nvSpPr>
          <p:cNvPr id="23" name="Text 21"/>
          <p:cNvSpPr/>
          <p:nvPr/>
        </p:nvSpPr>
        <p:spPr>
          <a:xfrm>
            <a:off x="6720840" y="5001768"/>
            <a:ext cx="4343400" cy="365760"/>
          </a:xfrm>
          <a:prstGeom prst="rect">
            <a:avLst/>
          </a:prstGeom>
          <a:noFill/>
          <a:ln/>
        </p:spPr>
        <p:txBody>
          <a:bodyPr wrap="square" lIns="0" tIns="0" rIns="0" bIns="0" rtlCol="0" anchor="t"/>
          <a:lstStyle/>
          <a:p>
            <a:pPr indent="0" marL="0">
              <a:buNone/>
            </a:pPr>
            <a:r>
              <a:rPr lang="en-US" sz="1700" b="1" dirty="0">
                <a:solidFill>
                  <a:srgbClr val="000000"/>
                </a:solidFill>
                <a:latin typeface="Pretendard" pitchFamily="34" charset="0"/>
                <a:ea typeface="Pretendard" pitchFamily="34" charset="-122"/>
                <a:cs typeface="Pretendard" pitchFamily="34" charset="-120"/>
              </a:rPr>
              <a:t>랭킹 — 동네끼리 비교</a:t>
            </a:r>
            <a:endParaRPr lang="en-US" sz="1700" dirty="0"/>
          </a:p>
        </p:txBody>
      </p:sp>
      <p:sp>
        <p:nvSpPr>
          <p:cNvPr id="24" name="Text 22"/>
          <p:cNvSpPr/>
          <p:nvPr/>
        </p:nvSpPr>
        <p:spPr>
          <a:xfrm>
            <a:off x="6720840" y="5349240"/>
            <a:ext cx="4434840" cy="457200"/>
          </a:xfrm>
          <a:prstGeom prst="rect">
            <a:avLst/>
          </a:prstGeom>
          <a:noFill/>
          <a:ln/>
        </p:spPr>
        <p:txBody>
          <a:bodyPr wrap="square" lIns="0" tIns="0" rIns="0" bIns="0" rtlCol="0" anchor="t"/>
          <a:lstStyle/>
          <a:p>
            <a:pPr indent="0" marL="0">
              <a:lnSpc>
                <a:spcPct val="130000"/>
              </a:lnSpc>
              <a:buNone/>
            </a:pPr>
            <a:r>
              <a:rPr lang="en-US" sz="1300" dirty="0">
                <a:solidFill>
                  <a:srgbClr val="3A3B40"/>
                </a:solidFill>
                <a:latin typeface="Pretendard" pitchFamily="34" charset="0"/>
                <a:ea typeface="Pretendard" pitchFamily="34" charset="-122"/>
                <a:cs typeface="Pretendard" pitchFamily="34" charset="-120"/>
              </a:rPr>
              <a:t>자치구를 시세순으로 나란히. 같은 값이면 어디가 나은지 비교돼요.</a:t>
            </a:r>
            <a:endParaRPr lang="en-US" sz="1300" dirty="0"/>
          </a:p>
        </p:txBody>
      </p:sp>
      <p:sp>
        <p:nvSpPr>
          <p:cNvPr id="25" name="Text 23"/>
          <p:cNvSpPr/>
          <p:nvPr/>
        </p:nvSpPr>
        <p:spPr>
          <a:xfrm>
            <a:off x="822960" y="6199632"/>
            <a:ext cx="5486400" cy="274320"/>
          </a:xfrm>
          <a:prstGeom prst="rect">
            <a:avLst/>
          </a:prstGeom>
          <a:noFill/>
          <a:ln/>
        </p:spPr>
        <p:txBody>
          <a:bodyPr wrap="square" lIns="0" tIns="0" rIns="0" bIns="0" rtlCol="0" anchor="ctr"/>
          <a:lstStyle/>
          <a:p>
            <a:pPr algn="l" indent="0" marL="0">
              <a:buNone/>
            </a:pPr>
            <a:r>
              <a:rPr lang="en-US" sz="1000" dirty="0">
                <a:solidFill>
                  <a:srgbClr val="878A93"/>
                </a:solidFill>
                <a:latin typeface="Pretendard" pitchFamily="34" charset="0"/>
                <a:ea typeface="Pretendard" pitchFamily="34" charset="-122"/>
                <a:cs typeface="Pretendard" pitchFamily="34" charset="-120"/>
              </a:rPr>
              <a:t>BuildnWrite</a:t>
            </a:r>
            <a:endParaRPr lang="en-US" sz="1000" dirty="0"/>
          </a:p>
        </p:txBody>
      </p:sp>
      <p:sp>
        <p:nvSpPr>
          <p:cNvPr id="26" name="Text 24"/>
          <p:cNvSpPr/>
          <p:nvPr/>
        </p:nvSpPr>
        <p:spPr>
          <a:xfrm>
            <a:off x="8595360" y="6199632"/>
            <a:ext cx="2743200" cy="274320"/>
          </a:xfrm>
          <a:prstGeom prst="rect">
            <a:avLst/>
          </a:prstGeom>
          <a:noFill/>
          <a:ln/>
        </p:spPr>
        <p:txBody>
          <a:bodyPr wrap="square" lIns="0" tIns="0" rIns="0" bIns="0" rtlCol="0" anchor="ctr"/>
          <a:lstStyle/>
          <a:p>
            <a:pPr algn="r" indent="0" marL="0">
              <a:buNone/>
            </a:pPr>
            <a:r>
              <a:rPr lang="en-US" sz="1000" dirty="0">
                <a:solidFill>
                  <a:srgbClr val="878A93"/>
                </a:solidFill>
                <a:latin typeface="Pretendard" pitchFamily="34" charset="0"/>
                <a:ea typeface="Pretendard" pitchFamily="34" charset="-122"/>
                <a:cs typeface="Pretendard" pitchFamily="34" charset="-120"/>
              </a:rPr>
              <a:t>03 / 06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77240"/>
            <a:ext cx="1828800" cy="384048"/>
          </a:xfrm>
          <a:prstGeom prst="roundRect">
            <a:avLst>
              <a:gd name="adj" fmla="val 50000"/>
            </a:avLst>
          </a:prstGeom>
          <a:solidFill>
            <a:srgbClr val="F7F7F8"/>
          </a:solidFill>
          <a:ln w="12700">
            <a:solidFill>
              <a:srgbClr val="E1E2E4"/>
            </a:solidFill>
            <a:prstDash val="solid"/>
          </a:ln>
        </p:spPr>
      </p:sp>
      <p:sp>
        <p:nvSpPr>
          <p:cNvPr id="3" name="Text 1"/>
          <p:cNvSpPr/>
          <p:nvPr/>
        </p:nvSpPr>
        <p:spPr>
          <a:xfrm>
            <a:off x="822960" y="777240"/>
            <a:ext cx="1828800" cy="384048"/>
          </a:xfrm>
          <a:prstGeom prst="rect">
            <a:avLst/>
          </a:prstGeom>
          <a:noFill/>
          <a:ln/>
        </p:spPr>
        <p:txBody>
          <a:bodyPr wrap="square" lIns="0" tIns="0" rIns="0" bIns="0" rtlCol="0" anchor="ctr"/>
          <a:lstStyle/>
          <a:p>
            <a:pPr algn="ctr" indent="0" marL="0">
              <a:buNone/>
            </a:pPr>
            <a:r>
              <a:rPr lang="en-US" sz="1200" b="1" dirty="0">
                <a:solidFill>
                  <a:srgbClr val="0066FF"/>
                </a:solidFill>
                <a:latin typeface="Pretendard" pitchFamily="34" charset="0"/>
                <a:ea typeface="Pretendard" pitchFamily="34" charset="-122"/>
                <a:cs typeface="Pretendard" pitchFamily="34" charset="-120"/>
              </a:rPr>
              <a:t>어떻게 만들었나</a:t>
            </a:r>
            <a:endParaRPr lang="en-US" sz="1200" dirty="0"/>
          </a:p>
        </p:txBody>
      </p:sp>
      <p:sp>
        <p:nvSpPr>
          <p:cNvPr id="4" name="Text 2"/>
          <p:cNvSpPr/>
          <p:nvPr/>
        </p:nvSpPr>
        <p:spPr>
          <a:xfrm>
            <a:off x="822960" y="1325880"/>
            <a:ext cx="10515600" cy="822960"/>
          </a:xfrm>
          <a:prstGeom prst="rect">
            <a:avLst/>
          </a:prstGeom>
          <a:noFill/>
          <a:ln/>
        </p:spPr>
        <p:txBody>
          <a:bodyPr wrap="square" lIns="0" tIns="0" rIns="0" bIns="0" rtlCol="0" anchor="t"/>
          <a:lstStyle/>
          <a:p>
            <a:pPr indent="0" marL="0">
              <a:buNone/>
            </a:pPr>
            <a:r>
              <a:rPr lang="en-US" sz="3400" b="1" dirty="0">
                <a:solidFill>
                  <a:srgbClr val="000000"/>
                </a:solidFill>
                <a:latin typeface="Pretendard" pitchFamily="34" charset="0"/>
                <a:ea typeface="Pretendard" pitchFamily="34" charset="-122"/>
                <a:cs typeface="Pretendard" pitchFamily="34" charset="-120"/>
              </a:rPr>
              <a:t>클로드와 ‘대화’로 만들었습니다</a:t>
            </a:r>
            <a:endParaRPr lang="en-US" sz="3400" dirty="0"/>
          </a:p>
        </p:txBody>
      </p:sp>
      <p:sp>
        <p:nvSpPr>
          <p:cNvPr id="5" name="Shape 3"/>
          <p:cNvSpPr/>
          <p:nvPr/>
        </p:nvSpPr>
        <p:spPr>
          <a:xfrm>
            <a:off x="822960" y="2514600"/>
            <a:ext cx="402336" cy="402336"/>
          </a:xfrm>
          <a:prstGeom prst="ellipse">
            <a:avLst/>
          </a:prstGeom>
          <a:solidFill>
            <a:srgbClr val="FFFFFF"/>
          </a:solidFill>
          <a:ln w="25400">
            <a:solidFill>
              <a:srgbClr val="0066FF"/>
            </a:solidFill>
            <a:prstDash val="solid"/>
          </a:ln>
        </p:spPr>
      </p:sp>
      <p:sp>
        <p:nvSpPr>
          <p:cNvPr id="6" name="Text 4"/>
          <p:cNvSpPr/>
          <p:nvPr/>
        </p:nvSpPr>
        <p:spPr>
          <a:xfrm>
            <a:off x="822960" y="2514600"/>
            <a:ext cx="402336" cy="402336"/>
          </a:xfrm>
          <a:prstGeom prst="rect">
            <a:avLst/>
          </a:prstGeom>
          <a:noFill/>
          <a:ln/>
        </p:spPr>
        <p:txBody>
          <a:bodyPr wrap="square" lIns="0" tIns="0" rIns="0" bIns="0" rtlCol="0" anchor="ctr"/>
          <a:lstStyle/>
          <a:p>
            <a:pPr algn="ctr" indent="0" marL="0">
              <a:buNone/>
            </a:pPr>
            <a:r>
              <a:rPr lang="en-US" sz="1400" b="1" dirty="0">
                <a:solidFill>
                  <a:srgbClr val="0066FF"/>
                </a:solidFill>
                <a:latin typeface="Pretendard" pitchFamily="34" charset="0"/>
                <a:ea typeface="Pretendard" pitchFamily="34" charset="-122"/>
                <a:cs typeface="Pretendard" pitchFamily="34" charset="-120"/>
              </a:rPr>
              <a:t>1</a:t>
            </a:r>
            <a:endParaRPr lang="en-US" sz="1400" dirty="0"/>
          </a:p>
        </p:txBody>
      </p:sp>
      <p:sp>
        <p:nvSpPr>
          <p:cNvPr id="7" name="Text 5"/>
          <p:cNvSpPr/>
          <p:nvPr/>
        </p:nvSpPr>
        <p:spPr>
          <a:xfrm>
            <a:off x="1463040" y="2459736"/>
            <a:ext cx="9326880" cy="548640"/>
          </a:xfrm>
          <a:prstGeom prst="rect">
            <a:avLst/>
          </a:prstGeom>
          <a:noFill/>
          <a:ln/>
        </p:spPr>
        <p:txBody>
          <a:bodyPr wrap="square" lIns="0" tIns="0" rIns="0" bIns="0" rtlCol="0" anchor="t"/>
          <a:lstStyle/>
          <a:p>
            <a:pPr indent="0" marL="0">
              <a:lnSpc>
                <a:spcPct val="130000"/>
              </a:lnSpc>
              <a:buNone/>
            </a:pPr>
            <a:r>
              <a:rPr lang="en-US" sz="1900" dirty="0">
                <a:solidFill>
                  <a:srgbClr val="171719"/>
                </a:solidFill>
                <a:latin typeface="Pretendard" pitchFamily="34" charset="0"/>
                <a:ea typeface="Pretendard" pitchFamily="34" charset="-122"/>
                <a:cs typeface="Pretendard" pitchFamily="34" charset="-120"/>
              </a:rPr>
              <a:t>데이터를 넣고 </a:t>
            </a:r>
            <a:pPr indent="0" marL="0">
              <a:lnSpc>
                <a:spcPct val="130000"/>
              </a:lnSpc>
              <a:buNone/>
            </a:pPr>
            <a:r>
              <a:rPr lang="en-US" sz="1900" b="1" dirty="0">
                <a:solidFill>
                  <a:srgbClr val="0054D1"/>
                </a:solidFill>
                <a:latin typeface="Pretendard" pitchFamily="34" charset="0"/>
                <a:ea typeface="Pretendard" pitchFamily="34" charset="-122"/>
                <a:cs typeface="Pretendard" pitchFamily="34" charset="-120"/>
              </a:rPr>
              <a:t>“이런 화면 만들어줘”</a:t>
            </a:r>
            <a:pPr indent="0" marL="0">
              <a:lnSpc>
                <a:spcPct val="130000"/>
              </a:lnSpc>
              <a:buNone/>
            </a:pPr>
            <a:r>
              <a:rPr lang="en-US" sz="1900" dirty="0">
                <a:solidFill>
                  <a:srgbClr val="171719"/>
                </a:solidFill>
                <a:latin typeface="Pretendard" pitchFamily="34" charset="0"/>
                <a:ea typeface="Pretendard" pitchFamily="34" charset="-122"/>
                <a:cs typeface="Pretendard" pitchFamily="34" charset="-120"/>
              </a:rPr>
              <a:t>라고 말로 부탁합니다.</a:t>
            </a:r>
            <a:endParaRPr lang="en-US" sz="1900" dirty="0"/>
          </a:p>
        </p:txBody>
      </p:sp>
      <p:sp>
        <p:nvSpPr>
          <p:cNvPr id="8" name="Shape 6"/>
          <p:cNvSpPr/>
          <p:nvPr/>
        </p:nvSpPr>
        <p:spPr>
          <a:xfrm>
            <a:off x="822960" y="3264408"/>
            <a:ext cx="402336" cy="402336"/>
          </a:xfrm>
          <a:prstGeom prst="ellipse">
            <a:avLst/>
          </a:prstGeom>
          <a:solidFill>
            <a:srgbClr val="FFFFFF"/>
          </a:solidFill>
          <a:ln w="25400">
            <a:solidFill>
              <a:srgbClr val="0066FF"/>
            </a:solidFill>
            <a:prstDash val="solid"/>
          </a:ln>
        </p:spPr>
      </p:sp>
      <p:sp>
        <p:nvSpPr>
          <p:cNvPr id="9" name="Text 7"/>
          <p:cNvSpPr/>
          <p:nvPr/>
        </p:nvSpPr>
        <p:spPr>
          <a:xfrm>
            <a:off x="822960" y="3264408"/>
            <a:ext cx="402336" cy="402336"/>
          </a:xfrm>
          <a:prstGeom prst="rect">
            <a:avLst/>
          </a:prstGeom>
          <a:noFill/>
          <a:ln/>
        </p:spPr>
        <p:txBody>
          <a:bodyPr wrap="square" lIns="0" tIns="0" rIns="0" bIns="0" rtlCol="0" anchor="ctr"/>
          <a:lstStyle/>
          <a:p>
            <a:pPr algn="ctr" indent="0" marL="0">
              <a:buNone/>
            </a:pPr>
            <a:r>
              <a:rPr lang="en-US" sz="1400" b="1" dirty="0">
                <a:solidFill>
                  <a:srgbClr val="0066FF"/>
                </a:solidFill>
                <a:latin typeface="Pretendard" pitchFamily="34" charset="0"/>
                <a:ea typeface="Pretendard" pitchFamily="34" charset="-122"/>
                <a:cs typeface="Pretendard" pitchFamily="34" charset="-120"/>
              </a:rPr>
              <a:t>2</a:t>
            </a:r>
            <a:endParaRPr lang="en-US" sz="1400" dirty="0"/>
          </a:p>
        </p:txBody>
      </p:sp>
      <p:sp>
        <p:nvSpPr>
          <p:cNvPr id="10" name="Text 8"/>
          <p:cNvSpPr/>
          <p:nvPr/>
        </p:nvSpPr>
        <p:spPr>
          <a:xfrm>
            <a:off x="1463040" y="3209544"/>
            <a:ext cx="9326880" cy="548640"/>
          </a:xfrm>
          <a:prstGeom prst="rect">
            <a:avLst/>
          </a:prstGeom>
          <a:noFill/>
          <a:ln/>
        </p:spPr>
        <p:txBody>
          <a:bodyPr wrap="square" lIns="0" tIns="0" rIns="0" bIns="0" rtlCol="0" anchor="t"/>
          <a:lstStyle/>
          <a:p>
            <a:pPr indent="0" marL="0">
              <a:lnSpc>
                <a:spcPct val="130000"/>
              </a:lnSpc>
              <a:buNone/>
            </a:pPr>
            <a:r>
              <a:rPr lang="en-US" sz="1900" dirty="0">
                <a:solidFill>
                  <a:srgbClr val="171719"/>
                </a:solidFill>
                <a:latin typeface="Pretendard" pitchFamily="34" charset="0"/>
                <a:ea typeface="Pretendard" pitchFamily="34" charset="-122"/>
                <a:cs typeface="Pretendard" pitchFamily="34" charset="-120"/>
              </a:rPr>
              <a:t>나온 화면을 눈으로 보고, </a:t>
            </a:r>
            <a:pPr indent="0" marL="0">
              <a:lnSpc>
                <a:spcPct val="130000"/>
              </a:lnSpc>
              <a:buNone/>
            </a:pPr>
            <a:r>
              <a:rPr lang="en-US" sz="1900" b="1" dirty="0">
                <a:solidFill>
                  <a:srgbClr val="0054D1"/>
                </a:solidFill>
                <a:latin typeface="Pretendard" pitchFamily="34" charset="0"/>
                <a:ea typeface="Pretendard" pitchFamily="34" charset="-122"/>
                <a:cs typeface="Pretendard" pitchFamily="34" charset="-120"/>
              </a:rPr>
              <a:t>“여긴 이렇게 바꿔줘”</a:t>
            </a:r>
            <a:pPr indent="0" marL="0">
              <a:lnSpc>
                <a:spcPct val="130000"/>
              </a:lnSpc>
              <a:buNone/>
            </a:pPr>
            <a:r>
              <a:rPr lang="en-US" sz="1900" dirty="0">
                <a:solidFill>
                  <a:srgbClr val="171719"/>
                </a:solidFill>
                <a:latin typeface="Pretendard" pitchFamily="34" charset="0"/>
                <a:ea typeface="Pretendard" pitchFamily="34" charset="-122"/>
                <a:cs typeface="Pretendard" pitchFamily="34" charset="-120"/>
              </a:rPr>
              <a:t> 하고 다시 말합니다.</a:t>
            </a:r>
            <a:endParaRPr lang="en-US" sz="1900" dirty="0"/>
          </a:p>
        </p:txBody>
      </p:sp>
      <p:sp>
        <p:nvSpPr>
          <p:cNvPr id="11" name="Shape 9"/>
          <p:cNvSpPr/>
          <p:nvPr/>
        </p:nvSpPr>
        <p:spPr>
          <a:xfrm>
            <a:off x="822960" y="4014216"/>
            <a:ext cx="402336" cy="402336"/>
          </a:xfrm>
          <a:prstGeom prst="ellipse">
            <a:avLst/>
          </a:prstGeom>
          <a:solidFill>
            <a:srgbClr val="FFFFFF"/>
          </a:solidFill>
          <a:ln w="25400">
            <a:solidFill>
              <a:srgbClr val="0066FF"/>
            </a:solidFill>
            <a:prstDash val="solid"/>
          </a:ln>
        </p:spPr>
      </p:sp>
      <p:sp>
        <p:nvSpPr>
          <p:cNvPr id="12" name="Text 10"/>
          <p:cNvSpPr/>
          <p:nvPr/>
        </p:nvSpPr>
        <p:spPr>
          <a:xfrm>
            <a:off x="822960" y="4014216"/>
            <a:ext cx="402336" cy="402336"/>
          </a:xfrm>
          <a:prstGeom prst="rect">
            <a:avLst/>
          </a:prstGeom>
          <a:noFill/>
          <a:ln/>
        </p:spPr>
        <p:txBody>
          <a:bodyPr wrap="square" lIns="0" tIns="0" rIns="0" bIns="0" rtlCol="0" anchor="ctr"/>
          <a:lstStyle/>
          <a:p>
            <a:pPr algn="ctr" indent="0" marL="0">
              <a:buNone/>
            </a:pPr>
            <a:r>
              <a:rPr lang="en-US" sz="1400" b="1" dirty="0">
                <a:solidFill>
                  <a:srgbClr val="0066FF"/>
                </a:solidFill>
                <a:latin typeface="Pretendard" pitchFamily="34" charset="0"/>
                <a:ea typeface="Pretendard" pitchFamily="34" charset="-122"/>
                <a:cs typeface="Pretendard" pitchFamily="34" charset="-120"/>
              </a:rPr>
              <a:t>3</a:t>
            </a:r>
            <a:endParaRPr lang="en-US" sz="1400" dirty="0"/>
          </a:p>
        </p:txBody>
      </p:sp>
      <p:sp>
        <p:nvSpPr>
          <p:cNvPr id="13" name="Text 11"/>
          <p:cNvSpPr/>
          <p:nvPr/>
        </p:nvSpPr>
        <p:spPr>
          <a:xfrm>
            <a:off x="1463040" y="3959352"/>
            <a:ext cx="9326880" cy="548640"/>
          </a:xfrm>
          <a:prstGeom prst="rect">
            <a:avLst/>
          </a:prstGeom>
          <a:noFill/>
          <a:ln/>
        </p:spPr>
        <p:txBody>
          <a:bodyPr wrap="square" lIns="0" tIns="0" rIns="0" bIns="0" rtlCol="0" anchor="t"/>
          <a:lstStyle/>
          <a:p>
            <a:pPr indent="0" marL="0">
              <a:lnSpc>
                <a:spcPct val="130000"/>
              </a:lnSpc>
              <a:buNone/>
            </a:pPr>
            <a:r>
              <a:rPr lang="en-US" sz="1900" dirty="0">
                <a:solidFill>
                  <a:srgbClr val="171719"/>
                </a:solidFill>
                <a:latin typeface="Pretendard" pitchFamily="34" charset="0"/>
                <a:ea typeface="Pretendard" pitchFamily="34" charset="-122"/>
                <a:cs typeface="Pretendard" pitchFamily="34" charset="-120"/>
              </a:rPr>
              <a:t>마음에 들 때까지 이 과정을 반복합니다.</a:t>
            </a:r>
            <a:endParaRPr lang="en-US" sz="1900" dirty="0"/>
          </a:p>
        </p:txBody>
      </p:sp>
      <p:sp>
        <p:nvSpPr>
          <p:cNvPr id="14" name="Shape 12"/>
          <p:cNvSpPr/>
          <p:nvPr/>
        </p:nvSpPr>
        <p:spPr>
          <a:xfrm>
            <a:off x="822960" y="4992624"/>
            <a:ext cx="54864" cy="658368"/>
          </a:xfrm>
          <a:prstGeom prst="rect">
            <a:avLst/>
          </a:prstGeom>
          <a:solidFill>
            <a:srgbClr val="0066FF"/>
          </a:solidFill>
          <a:ln/>
        </p:spPr>
      </p:sp>
      <p:sp>
        <p:nvSpPr>
          <p:cNvPr id="15" name="Text 13"/>
          <p:cNvSpPr/>
          <p:nvPr/>
        </p:nvSpPr>
        <p:spPr>
          <a:xfrm>
            <a:off x="1078992" y="4965192"/>
            <a:ext cx="9601200" cy="731520"/>
          </a:xfrm>
          <a:prstGeom prst="rect">
            <a:avLst/>
          </a:prstGeom>
          <a:noFill/>
          <a:ln/>
        </p:spPr>
        <p:txBody>
          <a:bodyPr wrap="square" lIns="0" tIns="0" rIns="0" bIns="0" rtlCol="0" anchor="ctr"/>
          <a:lstStyle/>
          <a:p>
            <a:pPr indent="0" marL="0">
              <a:lnSpc>
                <a:spcPct val="135000"/>
              </a:lnSpc>
              <a:buNone/>
            </a:pPr>
            <a:r>
              <a:rPr lang="en-US" sz="1800" dirty="0">
                <a:solidFill>
                  <a:srgbClr val="3A3B40"/>
                </a:solidFill>
                <a:latin typeface="Pretendard" pitchFamily="34" charset="0"/>
                <a:ea typeface="Pretendard" pitchFamily="34" charset="-122"/>
                <a:cs typeface="Pretendard" pitchFamily="34" charset="-120"/>
              </a:rPr>
              <a:t>이 대시보드를 만드는 동안, 저는 </a:t>
            </a:r>
            <a:pPr indent="0" marL="0">
              <a:lnSpc>
                <a:spcPct val="135000"/>
              </a:lnSpc>
              <a:buNone/>
            </a:pPr>
            <a:r>
              <a:rPr lang="en-US" sz="1800" b="1" dirty="0">
                <a:solidFill>
                  <a:srgbClr val="0054D1"/>
                </a:solidFill>
                <a:latin typeface="Pretendard" pitchFamily="34" charset="0"/>
                <a:ea typeface="Pretendard" pitchFamily="34" charset="-122"/>
                <a:cs typeface="Pretendard" pitchFamily="34" charset="-120"/>
              </a:rPr>
              <a:t>코드를 한 줄도 읽지 않았습니다.</a:t>
            </a:r>
            <a:endParaRPr lang="en-US" sz="1800" dirty="0"/>
          </a:p>
        </p:txBody>
      </p:sp>
      <p:sp>
        <p:nvSpPr>
          <p:cNvPr id="16" name="Text 14"/>
          <p:cNvSpPr/>
          <p:nvPr/>
        </p:nvSpPr>
        <p:spPr>
          <a:xfrm>
            <a:off x="822960" y="6199632"/>
            <a:ext cx="5486400" cy="274320"/>
          </a:xfrm>
          <a:prstGeom prst="rect">
            <a:avLst/>
          </a:prstGeom>
          <a:noFill/>
          <a:ln/>
        </p:spPr>
        <p:txBody>
          <a:bodyPr wrap="square" lIns="0" tIns="0" rIns="0" bIns="0" rtlCol="0" anchor="ctr"/>
          <a:lstStyle/>
          <a:p>
            <a:pPr algn="l" indent="0" marL="0">
              <a:buNone/>
            </a:pPr>
            <a:r>
              <a:rPr lang="en-US" sz="1000" dirty="0">
                <a:solidFill>
                  <a:srgbClr val="878A93"/>
                </a:solidFill>
                <a:latin typeface="Pretendard" pitchFamily="34" charset="0"/>
                <a:ea typeface="Pretendard" pitchFamily="34" charset="-122"/>
                <a:cs typeface="Pretendard" pitchFamily="34" charset="-120"/>
              </a:rPr>
              <a:t>BuildnWrite</a:t>
            </a:r>
            <a:endParaRPr lang="en-US" sz="1000" dirty="0"/>
          </a:p>
        </p:txBody>
      </p:sp>
      <p:sp>
        <p:nvSpPr>
          <p:cNvPr id="17" name="Text 15"/>
          <p:cNvSpPr/>
          <p:nvPr/>
        </p:nvSpPr>
        <p:spPr>
          <a:xfrm>
            <a:off x="8595360" y="6199632"/>
            <a:ext cx="2743200" cy="274320"/>
          </a:xfrm>
          <a:prstGeom prst="rect">
            <a:avLst/>
          </a:prstGeom>
          <a:noFill/>
          <a:ln/>
        </p:spPr>
        <p:txBody>
          <a:bodyPr wrap="square" lIns="0" tIns="0" rIns="0" bIns="0" rtlCol="0" anchor="ctr"/>
          <a:lstStyle/>
          <a:p>
            <a:pPr algn="r" indent="0" marL="0">
              <a:buNone/>
            </a:pPr>
            <a:r>
              <a:rPr lang="en-US" sz="1000" dirty="0">
                <a:solidFill>
                  <a:srgbClr val="878A93"/>
                </a:solidFill>
                <a:latin typeface="Pretendard" pitchFamily="34" charset="0"/>
                <a:ea typeface="Pretendard" pitchFamily="34" charset="-122"/>
                <a:cs typeface="Pretendard" pitchFamily="34" charset="-120"/>
              </a:rPr>
              <a:t>04 / 06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1371600"/>
            <a:ext cx="1828800" cy="384048"/>
          </a:xfrm>
          <a:prstGeom prst="roundRect">
            <a:avLst>
              <a:gd name="adj" fmla="val 50000"/>
            </a:avLst>
          </a:prstGeom>
          <a:solidFill>
            <a:srgbClr val="F7F7F8"/>
          </a:solidFill>
          <a:ln w="12700">
            <a:solidFill>
              <a:srgbClr val="E1E2E4"/>
            </a:solidFill>
            <a:prstDash val="solid"/>
          </a:ln>
        </p:spPr>
      </p:sp>
      <p:sp>
        <p:nvSpPr>
          <p:cNvPr id="3" name="Text 1"/>
          <p:cNvSpPr/>
          <p:nvPr/>
        </p:nvSpPr>
        <p:spPr>
          <a:xfrm>
            <a:off x="822960" y="1371600"/>
            <a:ext cx="1828800" cy="384048"/>
          </a:xfrm>
          <a:prstGeom prst="rect">
            <a:avLst/>
          </a:prstGeom>
          <a:noFill/>
          <a:ln/>
        </p:spPr>
        <p:txBody>
          <a:bodyPr wrap="square" lIns="0" tIns="0" rIns="0" bIns="0" rtlCol="0" anchor="ctr"/>
          <a:lstStyle/>
          <a:p>
            <a:pPr algn="ctr" indent="0" marL="0">
              <a:buNone/>
            </a:pPr>
            <a:r>
              <a:rPr lang="en-US" sz="1200" b="1" dirty="0">
                <a:solidFill>
                  <a:srgbClr val="0066FF"/>
                </a:solidFill>
                <a:latin typeface="Pretendard" pitchFamily="34" charset="0"/>
                <a:ea typeface="Pretendard" pitchFamily="34" charset="-122"/>
                <a:cs typeface="Pretendard" pitchFamily="34" charset="-120"/>
              </a:rPr>
              <a:t>만들면서 배운 것</a:t>
            </a:r>
            <a:endParaRPr lang="en-US" sz="1200" dirty="0"/>
          </a:p>
        </p:txBody>
      </p:sp>
      <p:sp>
        <p:nvSpPr>
          <p:cNvPr id="4" name="Text 2"/>
          <p:cNvSpPr/>
          <p:nvPr/>
        </p:nvSpPr>
        <p:spPr>
          <a:xfrm>
            <a:off x="822960" y="1965960"/>
            <a:ext cx="10515600" cy="1645920"/>
          </a:xfrm>
          <a:prstGeom prst="rect">
            <a:avLst/>
          </a:prstGeom>
          <a:noFill/>
          <a:ln/>
        </p:spPr>
        <p:txBody>
          <a:bodyPr wrap="square" lIns="0" tIns="0" rIns="0" bIns="0" rtlCol="0" anchor="t"/>
          <a:lstStyle/>
          <a:p>
            <a:pPr indent="0" marL="0">
              <a:lnSpc>
                <a:spcPct val="130000"/>
              </a:lnSpc>
              <a:buNone/>
            </a:pPr>
            <a:r>
              <a:rPr lang="en-US" sz="4000" b="1" dirty="0">
                <a:solidFill>
                  <a:srgbClr val="000000"/>
                </a:solidFill>
                <a:latin typeface="Pretendard" pitchFamily="34" charset="0"/>
                <a:ea typeface="Pretendard" pitchFamily="34" charset="-122"/>
                <a:cs typeface="Pretendard" pitchFamily="34" charset="-120"/>
              </a:rPr>
              <a:t>코드를 몰라도,
</a:t>
            </a:r>
            <a:pPr indent="0" marL="0">
              <a:lnSpc>
                <a:spcPct val="130000"/>
              </a:lnSpc>
              <a:buNone/>
            </a:pPr>
            <a:r>
              <a:rPr lang="en-US" sz="4000" b="1" dirty="0">
                <a:solidFill>
                  <a:srgbClr val="000000"/>
                </a:solidFill>
                <a:latin typeface="Pretendard" pitchFamily="34" charset="0"/>
                <a:ea typeface="Pretendard" pitchFamily="34" charset="-122"/>
                <a:cs typeface="Pretendard" pitchFamily="34" charset="-120"/>
              </a:rPr>
              <a:t>필요한 도구는 </a:t>
            </a:r>
            <a:pPr indent="0" marL="0">
              <a:lnSpc>
                <a:spcPct val="130000"/>
              </a:lnSpc>
              <a:buNone/>
            </a:pPr>
            <a:r>
              <a:rPr lang="en-US" sz="4000" b="1" dirty="0">
                <a:solidFill>
                  <a:srgbClr val="0066FF"/>
                </a:solidFill>
                <a:latin typeface="Pretendard" pitchFamily="34" charset="0"/>
                <a:ea typeface="Pretendard" pitchFamily="34" charset="-122"/>
                <a:cs typeface="Pretendard" pitchFamily="34" charset="-120"/>
              </a:rPr>
              <a:t>직접 만들 수 있다.</a:t>
            </a:r>
            <a:endParaRPr lang="en-US" sz="4000" dirty="0"/>
          </a:p>
        </p:txBody>
      </p:sp>
      <p:sp>
        <p:nvSpPr>
          <p:cNvPr id="5" name="Text 3"/>
          <p:cNvSpPr/>
          <p:nvPr/>
        </p:nvSpPr>
        <p:spPr>
          <a:xfrm>
            <a:off x="822960" y="4114800"/>
            <a:ext cx="8686800" cy="1097280"/>
          </a:xfrm>
          <a:prstGeom prst="rect">
            <a:avLst/>
          </a:prstGeom>
          <a:noFill/>
          <a:ln/>
        </p:spPr>
        <p:txBody>
          <a:bodyPr wrap="square" lIns="0" tIns="0" rIns="0" bIns="0" rtlCol="0" anchor="t"/>
          <a:lstStyle/>
          <a:p>
            <a:pPr indent="0" marL="0">
              <a:lnSpc>
                <a:spcPct val="150000"/>
              </a:lnSpc>
              <a:buNone/>
            </a:pPr>
            <a:r>
              <a:rPr lang="en-US" sz="1800" dirty="0">
                <a:solidFill>
                  <a:srgbClr val="3A3B40"/>
                </a:solidFill>
                <a:latin typeface="Pretendard" pitchFamily="34" charset="0"/>
                <a:ea typeface="Pretendard" pitchFamily="34" charset="-122"/>
                <a:cs typeface="Pretendard" pitchFamily="34" charset="-120"/>
              </a:rPr>
              <a:t>남이 만든 앱에 내 질문을 맞추는 대신, 내 질문에 맞는 도구를 스스로 만드는 쪽이 가능해졌습니다. 거창한 개발이 아니라, 필요한 걸 말로 부탁하는 일에 가깝습니다.</a:t>
            </a:r>
            <a:endParaRPr lang="en-US" sz="1800" dirty="0"/>
          </a:p>
        </p:txBody>
      </p:sp>
      <p:sp>
        <p:nvSpPr>
          <p:cNvPr id="6" name="Text 4"/>
          <p:cNvSpPr/>
          <p:nvPr/>
        </p:nvSpPr>
        <p:spPr>
          <a:xfrm>
            <a:off x="822960" y="6199632"/>
            <a:ext cx="5486400" cy="274320"/>
          </a:xfrm>
          <a:prstGeom prst="rect">
            <a:avLst/>
          </a:prstGeom>
          <a:noFill/>
          <a:ln/>
        </p:spPr>
        <p:txBody>
          <a:bodyPr wrap="square" lIns="0" tIns="0" rIns="0" bIns="0" rtlCol="0" anchor="ctr"/>
          <a:lstStyle/>
          <a:p>
            <a:pPr algn="l" indent="0" marL="0">
              <a:buNone/>
            </a:pPr>
            <a:r>
              <a:rPr lang="en-US" sz="1000" dirty="0">
                <a:solidFill>
                  <a:srgbClr val="878A93"/>
                </a:solidFill>
                <a:latin typeface="Pretendard" pitchFamily="34" charset="0"/>
                <a:ea typeface="Pretendard" pitchFamily="34" charset="-122"/>
                <a:cs typeface="Pretendard" pitchFamily="34" charset="-120"/>
              </a:rPr>
              <a:t>BuildnWrite</a:t>
            </a:r>
            <a:endParaRPr lang="en-US" sz="1000" dirty="0"/>
          </a:p>
        </p:txBody>
      </p:sp>
      <p:sp>
        <p:nvSpPr>
          <p:cNvPr id="7" name="Text 5"/>
          <p:cNvSpPr/>
          <p:nvPr/>
        </p:nvSpPr>
        <p:spPr>
          <a:xfrm>
            <a:off x="8595360" y="6199632"/>
            <a:ext cx="2743200" cy="274320"/>
          </a:xfrm>
          <a:prstGeom prst="rect">
            <a:avLst/>
          </a:prstGeom>
          <a:noFill/>
          <a:ln/>
        </p:spPr>
        <p:txBody>
          <a:bodyPr wrap="square" lIns="0" tIns="0" rIns="0" bIns="0" rtlCol="0" anchor="ctr"/>
          <a:lstStyle/>
          <a:p>
            <a:pPr algn="r" indent="0" marL="0">
              <a:buNone/>
            </a:pPr>
            <a:r>
              <a:rPr lang="en-US" sz="1000" dirty="0">
                <a:solidFill>
                  <a:srgbClr val="878A93"/>
                </a:solidFill>
                <a:latin typeface="Pretendard" pitchFamily="34" charset="0"/>
                <a:ea typeface="Pretendard" pitchFamily="34" charset="-122"/>
                <a:cs typeface="Pretendard" pitchFamily="34" charset="-120"/>
              </a:rPr>
              <a:t>05 / 06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66FF"/>
        </a:solidFill>
      </p:bgPr>
    </p:bg>
    <p:spTree>
      <p:nvGrpSpPr>
        <p:cNvPr id="1" name=""/>
        <p:cNvGrpSpPr/>
        <p:nvPr/>
      </p:nvGrpSpPr>
      <p:grpSpPr>
        <a:xfrm>
          <a:off x="0" y="0"/>
          <a:ext cx="0" cy="0"/>
          <a:chOff x="0" y="0"/>
          <a:chExt cx="0" cy="0"/>
        </a:xfrm>
      </p:grpSpPr>
      <p:sp>
        <p:nvSpPr>
          <p:cNvPr id="2" name="Shape 0"/>
          <p:cNvSpPr/>
          <p:nvPr/>
        </p:nvSpPr>
        <p:spPr>
          <a:xfrm>
            <a:off x="5166360" y="1554480"/>
            <a:ext cx="1828800" cy="384048"/>
          </a:xfrm>
          <a:prstGeom prst="roundRect">
            <a:avLst>
              <a:gd name="adj" fmla="val 50000"/>
            </a:avLst>
          </a:prstGeom>
          <a:solidFill>
            <a:srgbClr val="FFFFFF">
              <a:alpha val="14000"/>
            </a:srgbClr>
          </a:solidFill>
          <a:ln w="12700">
            <a:solidFill>
              <a:srgbClr val="FFFFFF">
                <a:alpha val="40000"/>
              </a:srgbClr>
            </a:solidFill>
            <a:prstDash val="solid"/>
          </a:ln>
        </p:spPr>
      </p:sp>
      <p:sp>
        <p:nvSpPr>
          <p:cNvPr id="3" name="Text 1"/>
          <p:cNvSpPr/>
          <p:nvPr/>
        </p:nvSpPr>
        <p:spPr>
          <a:xfrm>
            <a:off x="5166360" y="1554480"/>
            <a:ext cx="18288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Pretendard" pitchFamily="34" charset="0"/>
                <a:ea typeface="Pretendard" pitchFamily="34" charset="-122"/>
                <a:cs typeface="Pretendard" pitchFamily="34" charset="-120"/>
              </a:rPr>
              <a:t>지금 열어보세요</a:t>
            </a:r>
            <a:endParaRPr lang="en-US" sz="1200" dirty="0"/>
          </a:p>
        </p:txBody>
      </p:sp>
      <p:sp>
        <p:nvSpPr>
          <p:cNvPr id="4" name="Text 2"/>
          <p:cNvSpPr/>
          <p:nvPr/>
        </p:nvSpPr>
        <p:spPr>
          <a:xfrm>
            <a:off x="0" y="2286000"/>
            <a:ext cx="12161520" cy="457200"/>
          </a:xfrm>
          <a:prstGeom prst="rect">
            <a:avLst/>
          </a:prstGeom>
          <a:noFill/>
          <a:ln/>
        </p:spPr>
        <p:txBody>
          <a:bodyPr wrap="square" lIns="0" tIns="0" rIns="0" bIns="0" rtlCol="0" anchor="ctr"/>
          <a:lstStyle/>
          <a:p>
            <a:pPr algn="ctr" indent="0" marL="0">
              <a:buNone/>
            </a:pPr>
            <a:r>
              <a:rPr lang="en-US" sz="1800" dirty="0">
                <a:solidFill>
                  <a:srgbClr val="FFFFFF">
                    <a:alpha val="88000"/>
                  </a:srgbClr>
                </a:solidFill>
                <a:latin typeface="Pretendard" pitchFamily="34" charset="0"/>
                <a:ea typeface="Pretendard" pitchFamily="34" charset="-122"/>
                <a:cs typeface="Pretendard" pitchFamily="34" charset="-120"/>
              </a:rPr>
              <a:t>아래 주소에서 바로 써볼 수 있어요</a:t>
            </a:r>
            <a:endParaRPr lang="en-US" sz="1800" dirty="0"/>
          </a:p>
        </p:txBody>
      </p:sp>
      <p:sp>
        <p:nvSpPr>
          <p:cNvPr id="5" name="Shape 3"/>
          <p:cNvSpPr/>
          <p:nvPr/>
        </p:nvSpPr>
        <p:spPr>
          <a:xfrm>
            <a:off x="1280160" y="2971800"/>
            <a:ext cx="9601200" cy="1188720"/>
          </a:xfrm>
          <a:prstGeom prst="roundRect">
            <a:avLst>
              <a:gd name="adj" fmla="val 13846"/>
            </a:avLst>
          </a:prstGeom>
          <a:solidFill>
            <a:srgbClr val="FFFFFF">
              <a:alpha val="14000"/>
            </a:srgbClr>
          </a:solidFill>
          <a:ln w="12700">
            <a:solidFill>
              <a:srgbClr val="FFFFFF">
                <a:alpha val="38000"/>
              </a:srgbClr>
            </a:solidFill>
            <a:prstDash val="solid"/>
          </a:ln>
        </p:spPr>
      </p:sp>
      <p:sp>
        <p:nvSpPr>
          <p:cNvPr id="6" name="Text 4"/>
          <p:cNvSpPr/>
          <p:nvPr/>
        </p:nvSpPr>
        <p:spPr>
          <a:xfrm>
            <a:off x="1280160" y="2971800"/>
            <a:ext cx="9601200" cy="1188720"/>
          </a:xfrm>
          <a:prstGeom prst="rect">
            <a:avLst/>
          </a:prstGeom>
          <a:noFill/>
          <a:ln/>
        </p:spPr>
        <p:txBody>
          <a:bodyPr wrap="square" lIns="0" tIns="0" rIns="0" bIns="0" rtlCol="0" anchor="ctr"/>
          <a:lstStyle/>
          <a:p>
            <a:pPr algn="ctr" indent="0" marL="0">
              <a:buNone/>
            </a:pPr>
            <a:r>
              <a:rPr lang="en-US" sz="3400" b="1" dirty="0">
                <a:solidFill>
                  <a:srgbClr val="FFFFFF"/>
                </a:solidFill>
                <a:latin typeface="Pretendard" pitchFamily="34" charset="0"/>
                <a:ea typeface="Pretendard" pitchFamily="34" charset="-122"/>
                <a:cs typeface="Pretendard" pitchFamily="34" charset="-120"/>
              </a:rPr>
              <a:t>https://ggplab.github.io/apt-dashboard</a:t>
            </a:r>
            <a:endParaRPr lang="en-US" sz="3400" dirty="0"/>
          </a:p>
        </p:txBody>
      </p:sp>
      <p:sp>
        <p:nvSpPr>
          <p:cNvPr id="7" name="Text 5"/>
          <p:cNvSpPr/>
          <p:nvPr/>
        </p:nvSpPr>
        <p:spPr>
          <a:xfrm>
            <a:off x="0" y="4434840"/>
            <a:ext cx="12161520" cy="457200"/>
          </a:xfrm>
          <a:prstGeom prst="rect">
            <a:avLst/>
          </a:prstGeom>
          <a:noFill/>
          <a:ln/>
        </p:spPr>
        <p:txBody>
          <a:bodyPr wrap="square" lIns="0" tIns="0" rIns="0" bIns="0" rtlCol="0" anchor="ctr"/>
          <a:lstStyle/>
          <a:p>
            <a:pPr algn="ctr" indent="0" marL="0">
              <a:buNone/>
            </a:pPr>
            <a:r>
              <a:rPr lang="en-US" sz="1600" dirty="0">
                <a:solidFill>
                  <a:srgbClr val="FFFFFF">
                    <a:alpha val="85000"/>
                  </a:srgbClr>
                </a:solidFill>
                <a:latin typeface="Pretendard" pitchFamily="34" charset="0"/>
                <a:ea typeface="Pretendard" pitchFamily="34" charset="-122"/>
                <a:cs typeface="Pretendard" pitchFamily="34" charset="-120"/>
              </a:rPr>
              <a:t>휴대폰에서도 열립니다. 예산과 동네만 넣어 보세요.</a:t>
            </a:r>
            <a:endParaRPr lang="en-US" sz="1600" dirty="0"/>
          </a:p>
        </p:txBody>
      </p:sp>
      <p:sp>
        <p:nvSpPr>
          <p:cNvPr id="8" name="Text 6"/>
          <p:cNvSpPr/>
          <p:nvPr/>
        </p:nvSpPr>
        <p:spPr>
          <a:xfrm>
            <a:off x="822960" y="6199632"/>
            <a:ext cx="5486400" cy="274320"/>
          </a:xfrm>
          <a:prstGeom prst="rect">
            <a:avLst/>
          </a:prstGeom>
          <a:noFill/>
          <a:ln/>
        </p:spPr>
        <p:txBody>
          <a:bodyPr wrap="square" lIns="0" tIns="0" rIns="0" bIns="0" rtlCol="0" anchor="ctr"/>
          <a:lstStyle/>
          <a:p>
            <a:pPr algn="l" indent="0" marL="0">
              <a:buNone/>
            </a:pPr>
            <a:r>
              <a:rPr lang="en-US" sz="1000" dirty="0">
                <a:solidFill>
                  <a:srgbClr val="FFFFFF">
                    <a:alpha val="70000"/>
                  </a:srgbClr>
                </a:solidFill>
                <a:latin typeface="Pretendard" pitchFamily="34" charset="0"/>
                <a:ea typeface="Pretendard" pitchFamily="34" charset="-122"/>
                <a:cs typeface="Pretendard" pitchFamily="34" charset="-120"/>
              </a:rPr>
              <a:t>© 2026 BuildnWrite. All rights reserved.</a:t>
            </a:r>
            <a:endParaRPr lang="en-US" sz="1000" dirty="0"/>
          </a:p>
        </p:txBody>
      </p:sp>
      <p:sp>
        <p:nvSpPr>
          <p:cNvPr id="9" name="Text 7"/>
          <p:cNvSpPr/>
          <p:nvPr/>
        </p:nvSpPr>
        <p:spPr>
          <a:xfrm>
            <a:off x="8595360" y="6199632"/>
            <a:ext cx="2743200" cy="274320"/>
          </a:xfrm>
          <a:prstGeom prst="rect">
            <a:avLst/>
          </a:prstGeom>
          <a:noFill/>
          <a:ln/>
        </p:spPr>
        <p:txBody>
          <a:bodyPr wrap="square" lIns="0" tIns="0" rIns="0" bIns="0" rtlCol="0" anchor="ctr"/>
          <a:lstStyle/>
          <a:p>
            <a:pPr algn="r" indent="0" marL="0">
              <a:buNone/>
            </a:pPr>
            <a:r>
              <a:rPr lang="en-US" sz="1000" dirty="0">
                <a:solidFill>
                  <a:srgbClr val="FFFFFF">
                    <a:alpha val="70000"/>
                  </a:srgbClr>
                </a:solidFill>
                <a:latin typeface="Pretendard" pitchFamily="34" charset="0"/>
                <a:ea typeface="Pretendard" pitchFamily="34" charset="-122"/>
                <a:cs typeface="Pretendard" pitchFamily="34" charset="-120"/>
              </a:rPr>
              <a:t>06 / 06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우리 동네 실거래가, 내 기준으로 보기</dc:title>
  <dc:subject>PptxGenJS Presentation</dc:subject>
  <dc:creator>BuildnWrite</dc:creator>
  <cp:lastModifiedBy>BuildnWrite</cp:lastModifiedBy>
  <cp:revision>1</cp:revision>
  <dcterms:created xsi:type="dcterms:W3CDTF">2026-07-28T03:30:34Z</dcterms:created>
  <dcterms:modified xsi:type="dcterms:W3CDTF">2026-07-28T03:30:34Z</dcterms:modified>
</cp:coreProperties>
</file>